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Online Retail Sales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Data Analyst Assessment — Management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Business problem: understand revenue drivers, customer concentration, market opportunities and cancellation exposure.</a:t>
            </a:r>
          </a:p>
          <a:p>
            <a:pPr>
              <a:spcAft>
                <a:spcPts val="1200"/>
              </a:spcAft>
              <a:defRPr sz="2200"/>
            </a:pPr>
            <a:r>
              <a:t>Dataset: UCI Online Retail — 541,909 raw transaction rows.</a:t>
            </a:r>
          </a:p>
          <a:p>
            <a:pPr>
              <a:spcAft>
                <a:spcPts val="1200"/>
              </a:spcAft>
              <a:defRPr sz="2200"/>
            </a:pPr>
            <a:r>
              <a:t>Analysis period: 01-Dec-2010 to 09-Dec-2011; December 2011 is partial.</a:t>
            </a:r>
          </a:p>
          <a:p>
            <a:pPr>
              <a:spcAft>
                <a:spcPts val="1200"/>
              </a:spcAft>
              <a:defRPr sz="2200"/>
            </a:pPr>
            <a:r>
              <a:t>Method: Python + Pandas, descriptive analysis and business-oriented segmentation.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&amp; Methodology</a:t>
            </a:r>
          </a:p>
        </p:txBody>
      </p:sp>
      <p:pic>
        <p:nvPicPr>
          <p:cNvPr id="3" name="Picture 2" descr="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303520" cy="27937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3444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Removed exact duplicates and standardized text fields.</a:t>
            </a:r>
          </a:p>
          <a:p>
            <a:pPr>
              <a:spcAft>
                <a:spcPts val="1200"/>
              </a:spcAft>
              <a:defRPr sz="1800"/>
            </a:pPr>
            <a:r>
              <a:t>Calculated Revenue = Quantity × UnitPrice.</a:t>
            </a:r>
          </a:p>
          <a:p>
            <a:pPr>
              <a:spcAft>
                <a:spcPts val="1200"/>
              </a:spcAft>
              <a:defRPr sz="1800"/>
            </a:pPr>
            <a:r>
              <a:t>Separated cancellation invoices from normal positive sales.</a:t>
            </a:r>
          </a:p>
          <a:p>
            <a:pPr>
              <a:spcAft>
                <a:spcPts val="1200"/>
              </a:spcAft>
              <a:defRPr sz="1800"/>
            </a:pPr>
            <a:r>
              <a:t>Customer analysis uses only records with a known CustomerID.</a:t>
            </a:r>
          </a:p>
          <a:p>
            <a:pPr>
              <a:spcAft>
                <a:spcPts val="1200"/>
              </a:spcAft>
              <a:defRPr sz="1800"/>
            </a:pPr>
            <a:r>
              <a:t>Created monthly, country, product and customer summaries.</a:t>
            </a:r>
          </a:p>
          <a:p>
            <a:pPr>
              <a:spcAft>
                <a:spcPts val="1200"/>
              </a:spcAft>
              <a:defRPr sz="1800"/>
            </a:pPr>
            <a:r>
              <a:t>No profit/margin analysis: the dataset contains no cost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Findings</a:t>
            </a:r>
          </a:p>
        </p:txBody>
      </p:sp>
      <p:pic>
        <p:nvPicPr>
          <p:cNvPr id="3" name="Picture 2" descr="customer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03520" cy="3360020"/>
          </a:xfrm>
          <a:prstGeom prst="rect">
            <a:avLst/>
          </a:prstGeom>
        </p:spPr>
      </p:pic>
      <p:pic>
        <p:nvPicPr>
          <p:cNvPr id="4" name="Picture 3" descr="countr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303520" cy="29600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440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Repeat customers contribute 93.1% of identified-customer revenue.</a:t>
            </a:r>
          </a:p>
          <a:p>
            <a:pPr>
              <a:spcAft>
                <a:spcPts val="1200"/>
              </a:spcAft>
              <a:defRPr sz="1500"/>
            </a:pPr>
            <a:r>
              <a:t>UK contributes 84.6% of gross sales.</a:t>
            </a:r>
          </a:p>
          <a:p>
            <a:pPr>
              <a:spcAft>
                <a:spcPts val="1200"/>
              </a:spcAft>
              <a:defRPr sz="1500"/>
            </a:pPr>
            <a:r>
              <a:t>International AOV is 69.3% higher than UK AOV.</a:t>
            </a:r>
          </a:p>
          <a:p>
            <a:pPr>
              <a:spcAft>
                <a:spcPts val="1200"/>
              </a:spcAft>
              <a:defRPr sz="1500"/>
            </a:pPr>
            <a:r>
              <a:t>Sep–Nov contributes 34.9% of gross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Deep-Dive: Seasonality + Transaction Concentration</a:t>
            </a:r>
          </a:p>
        </p:txBody>
      </p:sp>
      <p:pic>
        <p:nvPicPr>
          <p:cNvPr id="3" name="Picture 2" descr="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2938227"/>
          </a:xfrm>
          <a:prstGeom prst="rect">
            <a:avLst/>
          </a:prstGeom>
        </p:spPr>
      </p:pic>
      <p:pic>
        <p:nvPicPr>
          <p:cNvPr id="4" name="Picture 3" descr="top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94960" cy="30186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2578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November is the peak month at £1.50M, 30.6% above October.</a:t>
            </a:r>
          </a:p>
          <a:p>
            <a:pPr>
              <a:spcAft>
                <a:spcPts val="1200"/>
              </a:spcAft>
              <a:defRPr sz="1400"/>
            </a:pPr>
            <a:r>
              <a:t>Invoice 581483 is a major outlier: £168,469.60 and 80,995 units.</a:t>
            </a:r>
          </a:p>
          <a:p>
            <a:pPr>
              <a:spcAft>
                <a:spcPts val="1200"/>
              </a:spcAft>
              <a:defRPr sz="1400"/>
            </a:pPr>
            <a:r>
              <a:t>The outlier is plausible for a wholesale-oriented retailer and should be investigated, not automatically deleted.</a:t>
            </a:r>
          </a:p>
          <a:p>
            <a:pPr>
              <a:spcAft>
                <a:spcPts val="1200"/>
              </a:spcAft>
              <a:defRPr sz="1400"/>
            </a:pPr>
            <a:r>
              <a:t>Peak-period planning and outlier-aware reporting are important for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1. RETAIN — Strengthen repeat-customer retention with reorder reminders, loyalty/VIP treatment and targeted follow-up.</a:t>
            </a:r>
          </a:p>
          <a:p>
            <a:pPr>
              <a:spcAft>
                <a:spcPts val="1200"/>
              </a:spcAft>
              <a:defRPr sz="2200"/>
            </a:pPr>
            <a:r>
              <a:t>2. REDUCE LEAKAGE — Analyze cancellation reasons and prioritize the products/customers/orders with the largest cancellation value.</a:t>
            </a:r>
          </a:p>
          <a:p>
            <a:pPr>
              <a:spcAft>
                <a:spcPts val="1200"/>
              </a:spcAft>
              <a:defRPr sz="2200"/>
            </a:pPr>
            <a:r>
              <a:t>3. EXPAND SELECTIVELY — Target high-AOV international markets with focused acquisition and retention programs.</a:t>
            </a:r>
          </a:p>
          <a:p>
            <a:pPr>
              <a:spcAft>
                <a:spcPts val="1200"/>
              </a:spcAft>
              <a:defRPr sz="2200"/>
            </a:pPr>
            <a:r>
              <a:t>Prioritization: protect the existing high-value base first, reduce avoidable leakage second, then scale attractive international segments.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Business Impact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Retention: increase repeat purchase rate and repeat-customer revenue.</a:t>
            </a:r>
          </a:p>
          <a:p>
            <a:pPr>
              <a:spcAft>
                <a:spcPts val="1200"/>
              </a:spcAft>
              <a:defRPr sz="2000"/>
            </a:pPr>
            <a:r>
              <a:t>Cancellation reduction: lower cancellation value rate and recover revenue from preventable reversals.</a:t>
            </a:r>
          </a:p>
          <a:p>
            <a:pPr>
              <a:spcAft>
                <a:spcPts val="1200"/>
              </a:spcAft>
              <a:defRPr sz="2000"/>
            </a:pPr>
            <a:r>
              <a:t>International growth: increase non-UK revenue and maintain/improve AOV by target market.</a:t>
            </a:r>
          </a:p>
          <a:p>
            <a:pPr>
              <a:spcAft>
                <a:spcPts val="1200"/>
              </a:spcAft>
              <a:defRPr sz="2000"/>
            </a:pPr>
            <a:r>
              <a:t>Operational readiness: improve inventory/fulfillment capacity ahead of the Sep–Nov demand peak.</a:t>
            </a:r>
          </a:p>
          <a:p>
            <a:pPr>
              <a:spcAft>
                <a:spcPts val="1200"/>
              </a:spcAft>
              <a:defRPr sz="2000"/>
            </a:pPr>
            <a:r>
              <a:t>Dashboard KPIs: revenue, orders, AOV, repeat revenue share, cancellation value/rate, country mix.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CustomerID is missing for 135,080 raw rows; customer-level conclusions cover identifiable customers only.</a:t>
            </a:r>
          </a:p>
          <a:p>
            <a:pPr>
              <a:spcAft>
                <a:spcPts val="1200"/>
              </a:spcAft>
              <a:defRPr sz="1900"/>
            </a:pPr>
            <a:r>
              <a:t>December 2011 is partial through 09-Dec-2011.</a:t>
            </a:r>
          </a:p>
          <a:p>
            <a:pPr>
              <a:spcAft>
                <a:spcPts val="1200"/>
              </a:spcAft>
              <a:defRPr sz="1900"/>
            </a:pPr>
            <a:r>
              <a:t>No product cost/margin data — profitability cannot be concluded.</a:t>
            </a:r>
          </a:p>
          <a:p>
            <a:pPr>
              <a:spcAft>
                <a:spcPts val="1200"/>
              </a:spcAft>
              <a:defRPr sz="1900"/>
            </a:pPr>
            <a:r>
              <a:t>Next: obtain cost/margin, cancellation reason, marketing campaign and customer channel data.</a:t>
            </a:r>
          </a:p>
          <a:p>
            <a:pPr>
              <a:spcAft>
                <a:spcPts val="1200"/>
              </a:spcAft>
              <a:defRPr sz="1900"/>
            </a:pPr>
            <a:r>
              <a:t>Next: build an interactive Looker Studio dashboard with month/country/product filters.</a:t>
            </a:r>
          </a:p>
          <a:p>
            <a:pPr>
              <a:spcAft>
                <a:spcPts val="1200"/>
              </a:spcAft>
              <a:defRPr sz="1900"/>
            </a:pPr>
            <a:r>
              <a:t>AI was used for analysis support and documentation; final figures were recalculated and verified against the supplied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